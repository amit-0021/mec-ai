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Relationship Id="rId11" Type="http://schemas.openxmlformats.org/officeDocument/2006/relationships/image" Target="../media/image4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5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52.png"/><Relationship Id="rId4" Type="http://schemas.openxmlformats.org/officeDocument/2006/relationships/image" Target="../media/image28.png"/><Relationship Id="rId5" Type="http://schemas.openxmlformats.org/officeDocument/2006/relationships/image" Target="../media/image5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5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1821209"/>
            <a:ext cx="3581400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85636" y="2345084"/>
            <a:ext cx="5820727" cy="1215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784"/>
              </a:lnSpc>
            </a:pPr>
            <a:r>
              <a:rPr b="0" sz="4350" i="0" u="none">
                <a:solidFill>
                  <a:srgbClr val="FFFFFF"/>
                </a:solidFill>
                <a:latin typeface="Plus Jakarta Sans ExtraBold"/>
              </a:rPr>
              <a:t>Microbial Electrolysis</a:t>
            </a:r>
            <a:r>
              <a:t>
</a:t>
            </a:r>
            <a:r>
              <a:rPr b="0" sz="4350" i="0" u="none">
                <a:solidFill>
                  <a:srgbClr val="FFFFFF"/>
                </a:solidFill>
                <a:latin typeface="Plus Jakarta Sans ExtraBold"/>
              </a:rPr>
              <a:t> Cells (MECs)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81250" y="3789015"/>
            <a:ext cx="7429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An Innovative Bioelectrochemical Approach for High-Yield Clean Hydrogen Production and Wastewater Remediation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225" y="1906934"/>
            <a:ext cx="142875" cy="133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2787" y="4703415"/>
            <a:ext cx="1933575" cy="3333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8762" y="4703415"/>
            <a:ext cx="1695450" cy="3333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6612" y="4703415"/>
            <a:ext cx="1752600" cy="3333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3762" y="4808190"/>
            <a:ext cx="114300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9737" y="4808190"/>
            <a:ext cx="104775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7587" y="4808190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94644"/>
            <a:ext cx="3530649" cy="27848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394644"/>
            <a:ext cx="3530649" cy="27848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394644"/>
            <a:ext cx="3530649" cy="278487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670869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356669"/>
            <a:ext cx="3127109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1" sz="1650" i="0" u="none">
                <a:solidFill>
                  <a:srgbClr val="0F172A"/>
                </a:solidFill>
                <a:latin typeface="Plus Jakarta Sans"/>
              </a:rPr>
              <a:t>Zero-Emission Fuel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722340"/>
            <a:ext cx="2978199" cy="94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Hydrogen is a premier clean fuel source that emits strictly water vapor when combusted, eliminating greenhouse gas emissions completely at point of use.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670869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974" y="3356669"/>
            <a:ext cx="3127109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1" sz="1650" i="0" u="none">
                <a:solidFill>
                  <a:srgbClr val="0F172A"/>
                </a:solidFill>
                <a:latin typeface="Plus Jakarta Sans"/>
              </a:rPr>
              <a:t>Energy System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722340"/>
            <a:ext cx="2978199" cy="1180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Essential for next-generation sustainable energy architectures, serving as an energy carrier for heavy transport, industrial feedstock, and seasonal grid storage.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670869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224" y="3356669"/>
            <a:ext cx="3127109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1" sz="1650" i="0" u="none">
                <a:solidFill>
                  <a:srgbClr val="0F172A"/>
                </a:solidFill>
                <a:latin typeface="Plus Jakarta Sans"/>
              </a:rPr>
              <a:t>Superior Efficiency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722340"/>
            <a:ext cx="2978199" cy="94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Modern fuel cell power conversion achieves approximately ~60% electrical efficiency, vastly outperforming internal combustion engines (ICEs).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2804219"/>
            <a:ext cx="28575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6037" y="2804219"/>
            <a:ext cx="25717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9574" y="2804219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0" sz="2700" i="0" u="none">
                <a:solidFill>
                  <a:srgbClr val="0F172A"/>
                </a:solidFill>
                <a:latin typeface="Plus Jakarta Sans ExtraBold"/>
              </a:rPr>
              <a:t>Hydrogen Production Overview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88761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68030"/>
            <a:ext cx="11049000" cy="38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68055"/>
            <a:ext cx="2430660" cy="137115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4180" y="2234951"/>
            <a:ext cx="2430660" cy="137115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6860" y="3968055"/>
            <a:ext cx="2430660" cy="137115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9541" y="2234951"/>
            <a:ext cx="2430660" cy="13711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1525" y="4168080"/>
            <a:ext cx="203061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Inter"/>
              </a:rPr>
              <a:t>1791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368105"/>
            <a:ext cx="2132141" cy="194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b="1" sz="1275" i="0" u="none">
                <a:solidFill>
                  <a:srgbClr val="0F172A"/>
                </a:solidFill>
                <a:latin typeface="Plus Jakarta Sans"/>
              </a:rPr>
              <a:t>Luigi Galvani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4619476"/>
            <a:ext cx="203061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Discovers bioelectric phenomena, laying foundational concepts of biological charge transfer.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4205" y="2434976"/>
            <a:ext cx="203061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Inter"/>
              </a:rPr>
              <a:t>1911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4205" y="2635001"/>
            <a:ext cx="2132141" cy="194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b="1" sz="1275" i="0" u="none">
                <a:solidFill>
                  <a:srgbClr val="0F172A"/>
                </a:solidFill>
                <a:latin typeface="Plus Jakarta Sans"/>
              </a:rPr>
              <a:t>Michael Potter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4205" y="2886372"/>
            <a:ext cx="203061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Demonstrates first electrical current generated directly by E. coli and yeast cultures.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6885" y="4168080"/>
            <a:ext cx="203061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Inter"/>
              </a:rPr>
              <a:t>2002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6885" y="4368105"/>
            <a:ext cx="2132141" cy="194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b="1" sz="1275" i="0" u="none">
                <a:solidFill>
                  <a:srgbClr val="0F172A"/>
                </a:solidFill>
                <a:latin typeface="Plus Jakarta Sans"/>
              </a:rPr>
              <a:t>MFC Boom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6885" y="4619476"/>
            <a:ext cx="203061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Microbial Fuel Cells gain research momentum to generate direct electricity from waste.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89566" y="2434976"/>
            <a:ext cx="203061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Inter"/>
              </a:rPr>
              <a:t>2005+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9566" y="2635001"/>
            <a:ext cx="2132141" cy="194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b="1" sz="1275" i="0" u="none">
                <a:solidFill>
                  <a:srgbClr val="0F172A"/>
                </a:solidFill>
                <a:latin typeface="Plus Jakarta Sans"/>
              </a:rPr>
              <a:t>MEC Emergence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9566" y="2886372"/>
            <a:ext cx="203061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Pivot from power generation to bioproducts, utilizing low voltage inputs to produce H₂ gas.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0" sz="2700" i="0" u="none">
                <a:solidFill>
                  <a:srgbClr val="0F172A"/>
                </a:solidFill>
                <a:latin typeface="Plus Jakarta Sans ExtraBold"/>
              </a:rPr>
              <a:t>Bioelectrochemical History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" y="88761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91580" y="369183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64260" y="369183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36941" y="369183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309621" y="369183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77181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52625"/>
            <a:ext cx="5334000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Microbial Electrolysis Cells (MECs)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leverage electroactive microorganisms to catalyze the conversion of organic waste into bio-hydrogen gas.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986706"/>
            <a:ext cx="5314950" cy="36004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1500" y="2813595"/>
            <a:ext cx="5334000" cy="834330"/>
          </a:xfrm>
          <a:prstGeom prst="roundRect">
            <a:avLst>
              <a:gd name="adj" fmla="val 114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900" y="2985045"/>
            <a:ext cx="461010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External Power Source: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Provides small bias voltage (0.2–0.8V) to drive endothermic H₂ evolution.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3800326"/>
            <a:ext cx="5334000" cy="834330"/>
          </a:xfrm>
          <a:prstGeom prst="roundRect">
            <a:avLst>
              <a:gd name="adj" fmla="val 114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4900" y="3971776"/>
            <a:ext cx="461010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Exoelectrogenic Biofilm: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Anode-attached bacteria (e.g. </a:t>
            </a:r>
            <a:r>
              <a:rPr b="0" sz="1200" i="1" u="none">
                <a:solidFill>
                  <a:srgbClr val="0D9488"/>
                </a:solidFill>
                <a:latin typeface="Inter"/>
              </a:rPr>
              <a:t>Geobacter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) oxidize organic substrates.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4787056"/>
            <a:ext cx="5334000" cy="834330"/>
          </a:xfrm>
          <a:prstGeom prst="roundRect">
            <a:avLst>
              <a:gd name="adj" fmla="val 114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4900" y="4958506"/>
            <a:ext cx="461010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Electrodes &amp; Membrane: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Carbon-based porous anode and metallic cathode separated by an Ion Exchange Membrane.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3638401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625131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5611862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008858"/>
            <a:ext cx="219075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3995588"/>
            <a:ext cx="17145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4982319"/>
            <a:ext cx="219075" cy="2000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0" sz="2700" i="0" u="none">
                <a:solidFill>
                  <a:srgbClr val="0F172A"/>
                </a:solidFill>
                <a:latin typeface="Plus Jakarta Sans ExtraBold"/>
              </a:rPr>
              <a:t>MEC System Fundamentals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88761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05211"/>
            <a:ext cx="5334000" cy="276373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05211"/>
            <a:ext cx="5334000" cy="276373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3908077"/>
            <a:ext cx="470535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3908077"/>
            <a:ext cx="4705350" cy="419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5825" y="2719536"/>
            <a:ext cx="4940617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1" sz="1650" i="0" u="none">
                <a:solidFill>
                  <a:srgbClr val="0D9488"/>
                </a:solidFill>
                <a:latin typeface="Plus Jakarta Sans"/>
              </a:rPr>
              <a:t>Anodic Oxidation (Bio-Catalysis)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085207"/>
            <a:ext cx="4705350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Exoelectrogenic bacteria colonizing the anode oxidize substrate organic molecules (e.g., acetate), producing carbon dioxide, protons, and electrons.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4441477"/>
            <a:ext cx="4705350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Electrons are transferred to the conductive anode and flow through the external circuit.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2719536"/>
            <a:ext cx="4940617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1" sz="1650" i="0" u="none">
                <a:solidFill>
                  <a:srgbClr val="0D9488"/>
                </a:solidFill>
                <a:latin typeface="Plus Jakarta Sans"/>
              </a:rPr>
              <a:t>Cathodic Reduction (H₂ Evolution)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3085207"/>
            <a:ext cx="4705350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Protons migrate across the exchange membrane to the cathode chamber. With supplemental applied potential, protons accept electrons to evolve pure H₂ gas.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825" y="4441477"/>
            <a:ext cx="4705350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Applied voltage of 0.2–0.8V overcomes thermodynamic barrier (-0.414V vs SHE).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25" y="4024312"/>
            <a:ext cx="2699891" cy="187523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1325" y="4024312"/>
            <a:ext cx="1228278" cy="18752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0" sz="2700" i="0" u="none">
                <a:solidFill>
                  <a:srgbClr val="0F172A"/>
                </a:solidFill>
                <a:latin typeface="Plus Jakarta Sans ExtraBold"/>
              </a:rPr>
              <a:t>Core Reaction Mechanisms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88761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94644"/>
            <a:ext cx="3530649" cy="27848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394644"/>
            <a:ext cx="3530649" cy="27848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394644"/>
            <a:ext cx="3530649" cy="278487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670869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356669"/>
            <a:ext cx="3127109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1" sz="1650" i="0" u="none">
                <a:solidFill>
                  <a:srgbClr val="0F172A"/>
                </a:solidFill>
                <a:latin typeface="Plus Jakarta Sans"/>
              </a:rPr>
              <a:t>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722340"/>
            <a:ext cx="2978199" cy="1180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Choice between single or double-chamber configurations; membrane selection (PEM/AEM) and high surface-area carbon anode materials govern internal resistance.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670869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974" y="3356669"/>
            <a:ext cx="3127109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1" sz="1650" i="0" u="none">
                <a:solidFill>
                  <a:srgbClr val="0F172A"/>
                </a:solidFill>
                <a:latin typeface="Plus Jakarta Sans"/>
              </a:rPr>
              <a:t>Biological 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722340"/>
            <a:ext cx="2978199" cy="94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Selecting robust mixed consortia vs pure electrochemically active cultures, alongside targeted operational strategies to suppress H₂-consuming methanogens.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670869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224" y="3356669"/>
            <a:ext cx="3127109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1" sz="1650" i="0" u="none">
                <a:solidFill>
                  <a:srgbClr val="0F172A"/>
                </a:solidFill>
                <a:latin typeface="Plus Jakarta Sans"/>
              </a:rPr>
              <a:t>Control Sweet Spot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722340"/>
            <a:ext cx="2978199" cy="94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Maintaining optimal neutral pH (6.5–7.0), controlled mesophilic temperatures, and precise applied potential (sweet spot around ~0.7V for peak yield).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6787" y="2804219"/>
            <a:ext cx="257175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0324" y="2804219"/>
            <a:ext cx="2286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9574" y="2804219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0" sz="2700" i="0" u="none">
                <a:solidFill>
                  <a:srgbClr val="0F172A"/>
                </a:solidFill>
                <a:latin typeface="Plus Jakarta Sans ExtraBold"/>
              </a:rPr>
              <a:t>Operational Parameters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88761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50405"/>
            <a:ext cx="3530649" cy="3473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050405"/>
            <a:ext cx="3530649" cy="3473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050405"/>
            <a:ext cx="3530649" cy="3473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2212330"/>
            <a:ext cx="3206799" cy="2095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2674" y="2212330"/>
            <a:ext cx="3206799" cy="2095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1924" y="2212330"/>
            <a:ext cx="3206799" cy="2095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625" y="4460230"/>
            <a:ext cx="3207119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Bio-Hydrogen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742110"/>
            <a:ext cx="3054399" cy="61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Generates high-purity clean H₂ gas directly from renewable biomass and municipal wastewater streams.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874" y="4460230"/>
            <a:ext cx="3207119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Wastewater Remediation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8874" y="4742110"/>
            <a:ext cx="3054399" cy="61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Effective organic pollutant removal while offsetting plant operational energy costs through fuel recovery.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8124" y="4460230"/>
            <a:ext cx="3207119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Resource 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8124" y="4742110"/>
            <a:ext cx="3054399" cy="61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Drives electrosynthesis of valuable organic chemicals (acetate, ethanol) and captures nitrogen &amp; phosphorus.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50" y="2221855"/>
            <a:ext cx="3187749" cy="2076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02199" y="2221855"/>
            <a:ext cx="3187749" cy="2076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61449" y="2221855"/>
            <a:ext cx="3187749" cy="2076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0" sz="2700" i="0" u="none">
                <a:solidFill>
                  <a:srgbClr val="0F172A"/>
                </a:solidFill>
                <a:latin typeface="Plus Jakarta Sans ExtraBold"/>
              </a:rPr>
              <a:t>Key MEC Applications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88761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48706"/>
            <a:ext cx="3619500" cy="2076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3139231"/>
            <a:ext cx="28384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b="0" sz="7500" i="0" u="none">
                <a:solidFill>
                  <a:srgbClr val="0D9488"/>
                </a:solidFill>
                <a:latin typeface="Plus Jakarta Sans ExtraBold"/>
              </a:rPr>
              <a:t>88%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4206031"/>
            <a:ext cx="2838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COD Removal 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7250" y="2381250"/>
            <a:ext cx="7300912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1" sz="1650" i="0" u="none">
                <a:solidFill>
                  <a:srgbClr val="0F172A"/>
                </a:solidFill>
                <a:latin typeface="Plus Jakarta Sans"/>
              </a:rPr>
              <a:t>High Efficiency Wastewater Treatment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7250" y="2746920"/>
            <a:ext cx="695325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MECs deliver exceptional organic degradation performance, removing up to 88% of Chemical Oxygen Demand (COD) from complex wastewater streams.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7250" y="3371701"/>
            <a:ext cx="6953250" cy="834330"/>
          </a:xfrm>
          <a:prstGeom prst="roundRect">
            <a:avLst>
              <a:gd name="adj" fmla="val 114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00650" y="3543151"/>
            <a:ext cx="622935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Low Carbon Footprint: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Minimal net greenhouse gas emissions compared to activated sludge systems.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7250" y="4358431"/>
            <a:ext cx="6953250" cy="834330"/>
          </a:xfrm>
          <a:prstGeom prst="roundRect">
            <a:avLst>
              <a:gd name="adj" fmla="val 114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00650" y="4529881"/>
            <a:ext cx="622935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Cost Effective: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Produces net positive energy output and reduces sludge production by up to 60%.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7250" y="4196506"/>
            <a:ext cx="6953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7250" y="5183237"/>
            <a:ext cx="6953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7275" y="3566963"/>
            <a:ext cx="19050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7275" y="4553694"/>
            <a:ext cx="190500" cy="2000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0" sz="2700" i="0" u="none">
                <a:solidFill>
                  <a:srgbClr val="0F172A"/>
                </a:solidFill>
                <a:latin typeface="Plus Jakarta Sans ExtraBold"/>
              </a:rPr>
              <a:t>Environmental Benefits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88761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42864"/>
            <a:ext cx="11049000" cy="2688431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452389"/>
          <a:ext cx="11029947" cy="2669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349251"/>
                <a:gridCol w="2772072"/>
                <a:gridCol w="2631132"/>
                <a:gridCol w="3277492"/>
              </a:tblGrid>
              <a:tr h="53387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Metric / Parameter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Water Electrolysis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Microbial Fuel Cell (MFC)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Microbial Electrolysis Cell (MEC)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3387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Primary Output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Hydrogen Gas (H₂)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Direct Electricity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Bio-Hydrogen Gas (H₂)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87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Energy Input Required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High (~4.5–5.0 kWh/m³ H₂)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None (Power Producer)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Very Low (~0.6 kWh/m³ H₂)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3387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Feedstock / Substrate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High-Purity Purified Water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Organic Wastewater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Wastewater / Biomass Waste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87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Applied Voltage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&gt; 1.23 V (Typically 1.8–2.0V)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0.0 V (Self-Generating)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0.2 V – 0.8 V (Low External Bias)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973883"/>
            <a:ext cx="23492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30276" y="2973883"/>
            <a:ext cx="27720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02349" y="2973883"/>
            <a:ext cx="26311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33482" y="2973883"/>
            <a:ext cx="32774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1025" y="3509664"/>
            <a:ext cx="23492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30276" y="3509664"/>
            <a:ext cx="27720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02349" y="3509664"/>
            <a:ext cx="26311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33482" y="3509664"/>
            <a:ext cx="32774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1025" y="4045446"/>
            <a:ext cx="23492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30276" y="4045446"/>
            <a:ext cx="27720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02349" y="4045446"/>
            <a:ext cx="26311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33482" y="4045446"/>
            <a:ext cx="32774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1025" y="4581227"/>
            <a:ext cx="23492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30276" y="4581227"/>
            <a:ext cx="27720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02349" y="4581227"/>
            <a:ext cx="26311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33482" y="4581227"/>
            <a:ext cx="32774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0" sz="2700" i="0" u="none">
                <a:solidFill>
                  <a:srgbClr val="0F172A"/>
                </a:solidFill>
                <a:latin typeface="Plus Jakarta Sans ExtraBold"/>
              </a:rPr>
              <a:t>Technology Comparison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88761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383184"/>
            <a:ext cx="11049000" cy="834330"/>
          </a:xfrm>
          <a:prstGeom prst="roundRect">
            <a:avLst>
              <a:gd name="adj" fmla="val 114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900" y="2554634"/>
            <a:ext cx="1032510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Reactor Scale-Up Bottlenecks: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Bridging the performance gap between small-scale laboratory reactors and large industrial pilot installations requires minimizing internal ohmic resistance.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3369915"/>
            <a:ext cx="11049000" cy="834330"/>
          </a:xfrm>
          <a:prstGeom prst="roundRect">
            <a:avLst>
              <a:gd name="adj" fmla="val 114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900" y="3541365"/>
            <a:ext cx="1032510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Electron Transfer Kinetics: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Enhancing extracellular electron transfer efficiency between bacterial biofilms and electrode surfaces via synthetic biology and bio-engineering.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4356645"/>
            <a:ext cx="11049000" cy="834330"/>
          </a:xfrm>
          <a:prstGeom prst="roundRect">
            <a:avLst>
              <a:gd name="adj" fmla="val 114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900" y="4528095"/>
            <a:ext cx="10325100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Advanced Materials &amp; Magnetic Fields: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Developing platinum-free cathode catalysts, nanostructured 3D carbon anodes, and using localized magnetic fields to accelerate biofilm growth.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320799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419472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5181451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578447"/>
            <a:ext cx="219075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565177"/>
            <a:ext cx="17145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4551908"/>
            <a:ext cx="190500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0" sz="2700" i="0" u="none">
                <a:solidFill>
                  <a:srgbClr val="0F172A"/>
                </a:solidFill>
                <a:latin typeface="Plus Jakarta Sans ExtraBold"/>
              </a:rPr>
              <a:t>Challenges &amp; Innovation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88761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550693" cy="8227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0" sz="2700" i="0" u="none">
                <a:solidFill>
                  <a:srgbClr val="0F172A"/>
                </a:solidFill>
                <a:latin typeface="Plus Jakarta Sans ExtraBold"/>
              </a:rPr>
              <a:t>Strategic Technology Roadmap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71500" y="1298971"/>
            <a:ext cx="76051" cy="3048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2926109"/>
            <a:ext cx="5550693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1" sz="1650" i="0" u="none">
                <a:solidFill>
                  <a:srgbClr val="0F172A"/>
                </a:solidFill>
                <a:latin typeface="Plus Jakarta Sans"/>
              </a:rPr>
              <a:t>Commercialization Pathway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291780"/>
            <a:ext cx="5286375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Transitioning MECs into commercial biorefineries demands multi-disciplinary optimization across electrochemistry, microbial genetics, and materials science.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175521"/>
            <a:ext cx="5286375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Priorities include non-precious catalysts (e.g., Ni-based compounds), optimized flow-field designs, and continuous methanogen inhibition strategies to maximize pure hydrogen yields.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362" y="4186088"/>
            <a:ext cx="2609850" cy="514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8812" y="4186088"/>
            <a:ext cx="3552825" cy="514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50544" y="2157412"/>
            <a:ext cx="7290911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b="1" sz="4800" i="0" u="none">
                <a:solidFill>
                  <a:srgbClr val="FFFFFF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00375" y="3041302"/>
            <a:ext cx="6191250" cy="649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57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Unlocking Sustainable Biohydrogen Production &amp; Circular Wastewater Economy Through MECs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6587" y="4367063"/>
            <a:ext cx="1524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5037" y="4367063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86303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63455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40608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417760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62503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62503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39655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39655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16808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416808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93960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93960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05905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2006203"/>
            <a:ext cx="9953625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https://static-01.extrica.com/articles/21985/21985-gabs-1119x642.webp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2245667"/>
            <a:ext cx="9953625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www.extrica.com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77430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2777728"/>
            <a:ext cx="9953625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https://www.thermofisher.com/blog/identifying-threats/wp-content/uploads/sites/11/2024/09/iStock-2136054419_greenhydrogendiagram-scaled.jpg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3017192"/>
            <a:ext cx="9953625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www.thermofisher.com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48955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3549253"/>
            <a:ext cx="9953625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https://cwt-global.com/wp-content/uploads/2025/07/Sub-pillar-Industrial-Wastewater-Treatment-Process-1.png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3788717"/>
            <a:ext cx="9953625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cwt-global.com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320480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66875" y="4320778"/>
            <a:ext cx="9953625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https://www.mdpi.com/reactions/reactions-05-00059/article_deploy/html/images/reactions-05-00059-g001.png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4560242"/>
            <a:ext cx="9953625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www.mdpi.com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092005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66875" y="5092303"/>
            <a:ext cx="9953625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https://images.stockcake.com/public/c/5/f/c5fc6a7c-3cb8-4331-b6e3-8b3eb5d7ad89_large/renewable-energy-research-stockcake.jpg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5331767"/>
            <a:ext cx="9953625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stockcake.com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0" sz="2700" i="0" u="none">
                <a:solidFill>
                  <a:srgbClr val="0F172A"/>
                </a:solidFill>
                <a:latin typeface="Plus Jakarta Sans ExtraBold"/>
              </a:rPr>
              <a:t>Image Sources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" y="88761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